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1"/>
  </p:sldMasterIdLst>
  <p:notesMasterIdLst>
    <p:notesMasterId r:id="rId8"/>
  </p:notesMasterIdLst>
  <p:sldIdLst>
    <p:sldId id="262" r:id="rId2"/>
    <p:sldId id="263" r:id="rId3"/>
    <p:sldId id="265" r:id="rId4"/>
    <p:sldId id="266" r:id="rId5"/>
    <p:sldId id="264" r:id="rId6"/>
    <p:sldId id="25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E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5"/>
    <p:restoredTop sz="55102"/>
  </p:normalViewPr>
  <p:slideViewPr>
    <p:cSldViewPr snapToGrid="0" snapToObjects="1">
      <p:cViewPr varScale="1">
        <p:scale>
          <a:sx n="67" d="100"/>
          <a:sy n="67" d="100"/>
        </p:scale>
        <p:origin x="2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Anderegg (KLW)" userId="e655a683-8ed3-43e5-a0cb-30d5aa6cfd91" providerId="ADAL" clId="{1DE84239-C7D9-224A-A9C0-4D3CEA58EA15}"/>
    <pc:docChg chg="modSld">
      <pc:chgData name="Michael Anderegg (KLW)" userId="e655a683-8ed3-43e5-a0cb-30d5aa6cfd91" providerId="ADAL" clId="{1DE84239-C7D9-224A-A9C0-4D3CEA58EA15}" dt="2021-04-17T12:31:54.114" v="363" actId="20577"/>
      <pc:docMkLst>
        <pc:docMk/>
      </pc:docMkLst>
      <pc:sldChg chg="modSp mod">
        <pc:chgData name="Michael Anderegg (KLW)" userId="e655a683-8ed3-43e5-a0cb-30d5aa6cfd91" providerId="ADAL" clId="{1DE84239-C7D9-224A-A9C0-4D3CEA58EA15}" dt="2021-04-17T12:31:12.580" v="280" actId="20577"/>
        <pc:sldMkLst>
          <pc:docMk/>
          <pc:sldMk cId="365611581" sldId="264"/>
        </pc:sldMkLst>
      </pc:sldChg>
      <pc:sldChg chg="modSp mod">
        <pc:chgData name="Michael Anderegg (KLW)" userId="e655a683-8ed3-43e5-a0cb-30d5aa6cfd91" providerId="ADAL" clId="{1DE84239-C7D9-224A-A9C0-4D3CEA58EA15}" dt="2021-04-17T12:31:54.114" v="363" actId="20577"/>
        <pc:sldMkLst>
          <pc:docMk/>
          <pc:sldMk cId="3038262460" sldId="267"/>
        </pc:sldMkLst>
      </pc:sldChg>
    </pc:docChg>
  </pc:docChgLst>
  <pc:docChgLst>
    <pc:chgData name="Michael Anderegg (KLW)" userId="e655a683-8ed3-43e5-a0cb-30d5aa6cfd91" providerId="ADAL" clId="{AA0989E0-8F81-0D45-9E35-AB7CBD404870}"/>
    <pc:docChg chg="modSld">
      <pc:chgData name="Michael Anderegg (KLW)" userId="e655a683-8ed3-43e5-a0cb-30d5aa6cfd91" providerId="ADAL" clId="{AA0989E0-8F81-0D45-9E35-AB7CBD404870}" dt="2022-05-02T07:38:01.401" v="51" actId="1076"/>
      <pc:docMkLst>
        <pc:docMk/>
      </pc:docMkLst>
      <pc:sldChg chg="modSp">
        <pc:chgData name="Michael Anderegg (KLW)" userId="e655a683-8ed3-43e5-a0cb-30d5aa6cfd91" providerId="ADAL" clId="{AA0989E0-8F81-0D45-9E35-AB7CBD404870}" dt="2022-05-02T07:38:01.401" v="51" actId="1076"/>
        <pc:sldMkLst>
          <pc:docMk/>
          <pc:sldMk cId="3038262460" sldId="267"/>
        </pc:sldMkLst>
      </pc:sldChg>
    </pc:docChg>
  </pc:docChgLst>
  <pc:docChgLst>
    <pc:chgData name="Michael Anderegg (KLW)" userId="e655a683-8ed3-43e5-a0cb-30d5aa6cfd91" providerId="ADAL" clId="{2F9891CD-1F7A-A744-A120-49D315635260}"/>
    <pc:docChg chg="custSel delSld modSld">
      <pc:chgData name="Michael Anderegg (KLW)" userId="e655a683-8ed3-43e5-a0cb-30d5aa6cfd91" providerId="ADAL" clId="{2F9891CD-1F7A-A744-A120-49D315635260}" dt="2025-01-10T07:52:41.992" v="88" actId="404"/>
      <pc:docMkLst>
        <pc:docMk/>
      </pc:docMkLst>
      <pc:sldChg chg="modSp mod">
        <pc:chgData name="Michael Anderegg (KLW)" userId="e655a683-8ed3-43e5-a0cb-30d5aa6cfd91" providerId="ADAL" clId="{2F9891CD-1F7A-A744-A120-49D315635260}" dt="2025-01-10T07:52:41.992" v="88" actId="404"/>
        <pc:sldMkLst>
          <pc:docMk/>
          <pc:sldMk cId="1377184672" sldId="262"/>
        </pc:sldMkLst>
        <pc:spChg chg="mod">
          <ac:chgData name="Michael Anderegg (KLW)" userId="e655a683-8ed3-43e5-a0cb-30d5aa6cfd91" providerId="ADAL" clId="{2F9891CD-1F7A-A744-A120-49D315635260}" dt="2025-01-10T07:52:41.992" v="88" actId="404"/>
          <ac:spMkLst>
            <pc:docMk/>
            <pc:sldMk cId="1377184672" sldId="262"/>
            <ac:spMk id="2" creationId="{00000000-0000-0000-0000-000000000000}"/>
          </ac:spMkLst>
        </pc:spChg>
      </pc:sldChg>
      <pc:sldChg chg="del">
        <pc:chgData name="Michael Anderegg (KLW)" userId="e655a683-8ed3-43e5-a0cb-30d5aa6cfd91" providerId="ADAL" clId="{2F9891CD-1F7A-A744-A120-49D315635260}" dt="2025-01-10T07:36:39.019" v="53" actId="2696"/>
        <pc:sldMkLst>
          <pc:docMk/>
          <pc:sldMk cId="3038262460" sldId="267"/>
        </pc:sldMkLst>
      </pc:sldChg>
    </pc:docChg>
  </pc:docChgLst>
  <pc:docChgLst>
    <pc:chgData name="Michael Anderegg (KLW)" userId="e655a683-8ed3-43e5-a0cb-30d5aa6cfd91" providerId="ADAL" clId="{E86F80EF-A04D-9E44-89F8-0F8FA2346234}"/>
    <pc:docChg chg="modSld">
      <pc:chgData name="Michael Anderegg (KLW)" userId="e655a683-8ed3-43e5-a0cb-30d5aa6cfd91" providerId="ADAL" clId="{E86F80EF-A04D-9E44-89F8-0F8FA2346234}" dt="2021-04-17T12:40:04.653" v="78" actId="20577"/>
      <pc:docMkLst>
        <pc:docMk/>
      </pc:docMkLst>
      <pc:sldChg chg="modNotesTx">
        <pc:chgData name="Michael Anderegg (KLW)" userId="e655a683-8ed3-43e5-a0cb-30d5aa6cfd91" providerId="ADAL" clId="{E86F80EF-A04D-9E44-89F8-0F8FA2346234}" dt="2021-04-17T12:40:04.653" v="78" actId="20577"/>
        <pc:sldMkLst>
          <pc:docMk/>
          <pc:sldMk cId="303826246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A2B4B-3B3D-1145-965E-A8EA984C8D9D}" type="datetimeFigureOut">
              <a:rPr lang="de-DE" smtClean="0"/>
              <a:t>10.01.25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C40DA-5312-5C46-950E-495F803255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882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Stochastik = </a:t>
            </a:r>
            <a:r>
              <a:rPr lang="de-DE" dirty="0" err="1"/>
              <a:t>Wkeit</a:t>
            </a:r>
            <a:r>
              <a:rPr lang="de-DE" dirty="0"/>
              <a:t> und Statistik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AC40DA-5312-5C46-950E-495F8032559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825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Hielt sich in Zeiten der Arbeitslosigkeit mit Würfelspielen über Wasser.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C40DA-5312-5C46-950E-495F8032559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1177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De </a:t>
            </a:r>
            <a:r>
              <a:rPr lang="de-CH" dirty="0" err="1"/>
              <a:t>Méré</a:t>
            </a:r>
            <a:r>
              <a:rPr lang="de-CH" dirty="0"/>
              <a:t> schreib an Pascal. Er diskutierte darüber mit Fermat.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C40DA-5312-5C46-950E-495F8032559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548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neue Rente war geringer. Gerüchte sagen: Der Staatssekretär Johan de </a:t>
            </a:r>
            <a:r>
              <a:rPr lang="de-DE" dirty="0" err="1"/>
              <a:t>Wit</a:t>
            </a:r>
            <a:r>
              <a:rPr lang="de-DE" dirty="0"/>
              <a:t> wurde ein Jahr später deswegen gesteinigt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C40DA-5312-5C46-950E-495F8032559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424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C40DA-5312-5C46-950E-495F8032559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0499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635369" y="1122362"/>
            <a:ext cx="8921262" cy="451643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7200" spc="-15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1" name="Bild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2467356" cy="542544"/>
          </a:xfrm>
          <a:prstGeom prst="rect">
            <a:avLst/>
          </a:prstGeom>
        </p:spPr>
      </p:pic>
      <p:pic>
        <p:nvPicPr>
          <p:cNvPr id="8" name="Bild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784" y="6138000"/>
            <a:ext cx="532800" cy="720000"/>
          </a:xfrm>
          <a:prstGeom prst="rect">
            <a:avLst/>
          </a:prstGeom>
        </p:spPr>
      </p:pic>
      <p:pic>
        <p:nvPicPr>
          <p:cNvPr id="9" name="Bild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585" y="1883008"/>
            <a:ext cx="1022401" cy="1440000"/>
          </a:xfrm>
          <a:prstGeom prst="rect">
            <a:avLst/>
          </a:prstGeom>
        </p:spPr>
      </p:pic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D9426-D303-614F-8D3B-28A9162F8D6C}" type="datetime1">
              <a:rPr lang="de-CH" smtClean="0"/>
              <a:t>10.01.25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CA49-E037-8249-8A6D-A7FC8A19B761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2" name="Bild 10">
            <a:extLst>
              <a:ext uri="{FF2B5EF4-FFF2-40B4-BE49-F238E27FC236}">
                <a16:creationId xmlns:a16="http://schemas.microsoft.com/office/drawing/2014/main" id="{21F945A4-3DD5-5444-8A9D-059A6A54D5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2467356" cy="542544"/>
          </a:xfrm>
          <a:prstGeom prst="rect">
            <a:avLst/>
          </a:prstGeom>
        </p:spPr>
      </p:pic>
      <p:pic>
        <p:nvPicPr>
          <p:cNvPr id="13" name="Bild 7">
            <a:extLst>
              <a:ext uri="{FF2B5EF4-FFF2-40B4-BE49-F238E27FC236}">
                <a16:creationId xmlns:a16="http://schemas.microsoft.com/office/drawing/2014/main" id="{03C0DB3B-B687-B74B-AD18-B31BB6EDAE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784" y="6138000"/>
            <a:ext cx="532800" cy="720000"/>
          </a:xfrm>
          <a:prstGeom prst="rect">
            <a:avLst/>
          </a:prstGeom>
        </p:spPr>
      </p:pic>
      <p:pic>
        <p:nvPicPr>
          <p:cNvPr id="14" name="Bild 8">
            <a:extLst>
              <a:ext uri="{FF2B5EF4-FFF2-40B4-BE49-F238E27FC236}">
                <a16:creationId xmlns:a16="http://schemas.microsoft.com/office/drawing/2014/main" id="{5F078459-E58A-9A48-A0F0-C909A58BB8F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585" y="1883008"/>
            <a:ext cx="1022401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7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16284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b="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Bild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2467356" cy="542544"/>
          </a:xfrm>
          <a:prstGeom prst="rect">
            <a:avLst/>
          </a:prstGeom>
        </p:spPr>
      </p:pic>
      <p:pic>
        <p:nvPicPr>
          <p:cNvPr id="8" name="Bild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784" y="6138000"/>
            <a:ext cx="532800" cy="720000"/>
          </a:xfrm>
          <a:prstGeom prst="rect">
            <a:avLst/>
          </a:prstGeom>
        </p:spPr>
      </p:pic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D420-3027-E442-BCAC-50ABAF6F198C}" type="datetime1">
              <a:rPr lang="de-CH" smtClean="0"/>
              <a:t>10.01.25</a:t>
            </a:fld>
            <a:endParaRPr lang="de-DE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CA49-E037-8249-8A6D-A7FC8A19B76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9532586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16284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7" name="Bild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2467356" cy="542544"/>
          </a:xfrm>
          <a:prstGeom prst="rect">
            <a:avLst/>
          </a:prstGeom>
        </p:spPr>
      </p:pic>
      <p:pic>
        <p:nvPicPr>
          <p:cNvPr id="8" name="Bild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784" y="6138000"/>
            <a:ext cx="532800" cy="720000"/>
          </a:xfrm>
          <a:prstGeom prst="rect">
            <a:avLst/>
          </a:prstGeom>
        </p:spPr>
      </p:pic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D420-3027-E442-BCAC-50ABAF6F198C}" type="datetime1">
              <a:rPr lang="de-CH" smtClean="0"/>
              <a:t>10.01.25</a:t>
            </a:fld>
            <a:endParaRPr lang="de-DE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CA49-E037-8249-8A6D-A7FC8A19B76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0827297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9725"/>
            <a:ext cx="2467356" cy="556736"/>
          </a:xfrm>
          <a:prstGeom prst="rect">
            <a:avLst/>
          </a:prstGeom>
        </p:spPr>
      </p:pic>
      <p:pic>
        <p:nvPicPr>
          <p:cNvPr id="3" name="Bild 7">
            <a:extLst>
              <a:ext uri="{FF2B5EF4-FFF2-40B4-BE49-F238E27FC236}">
                <a16:creationId xmlns:a16="http://schemas.microsoft.com/office/drawing/2014/main" id="{56B7E827-0F77-8249-B4EB-0A87AB5DC7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9725"/>
            <a:ext cx="2467356" cy="5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69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F284F337-5099-7E41-9ECE-47318C245FC3}" type="datetime1">
              <a:rPr lang="de-CH" smtClean="0"/>
              <a:t>10.01.25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72390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353800" y="3323008"/>
            <a:ext cx="838200" cy="365125"/>
          </a:xfrm>
          <a:prstGeom prst="rect">
            <a:avLst/>
          </a:prstGeom>
        </p:spPr>
        <p:txBody>
          <a:bodyPr/>
          <a:lstStyle/>
          <a:p>
            <a:fld id="{3CA84D30-0424-A148-B89B-CEB45F9534E4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2467356" cy="542544"/>
          </a:xfrm>
          <a:prstGeom prst="rect">
            <a:avLst/>
          </a:prstGeom>
        </p:spPr>
      </p:pic>
      <p:pic>
        <p:nvPicPr>
          <p:cNvPr id="6" name="Bild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784" y="6138000"/>
            <a:ext cx="532800" cy="720000"/>
          </a:xfrm>
          <a:prstGeom prst="rect">
            <a:avLst/>
          </a:prstGeom>
        </p:spPr>
      </p:pic>
      <p:pic>
        <p:nvPicPr>
          <p:cNvPr id="7" name="Bild 7">
            <a:extLst>
              <a:ext uri="{FF2B5EF4-FFF2-40B4-BE49-F238E27FC236}">
                <a16:creationId xmlns:a16="http://schemas.microsoft.com/office/drawing/2014/main" id="{C033372C-A6DE-FE48-970B-5EDE18D60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2467356" cy="542544"/>
          </a:xfrm>
          <a:prstGeom prst="rect">
            <a:avLst/>
          </a:prstGeom>
        </p:spPr>
      </p:pic>
      <p:pic>
        <p:nvPicPr>
          <p:cNvPr id="9" name="Bild 5">
            <a:extLst>
              <a:ext uri="{FF2B5EF4-FFF2-40B4-BE49-F238E27FC236}">
                <a16:creationId xmlns:a16="http://schemas.microsoft.com/office/drawing/2014/main" id="{F18E0C3D-3CDB-A646-9C1E-A8D3D107DD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784" y="6138000"/>
            <a:ext cx="5328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25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635369" y="1122362"/>
            <a:ext cx="8921262" cy="451643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7200" spc="-15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1" name="Bild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2467356" cy="542544"/>
          </a:xfrm>
          <a:prstGeom prst="rect">
            <a:avLst/>
          </a:prstGeom>
        </p:spPr>
      </p:pic>
      <p:pic>
        <p:nvPicPr>
          <p:cNvPr id="8" name="Bild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784" y="6138000"/>
            <a:ext cx="532800" cy="720000"/>
          </a:xfrm>
          <a:prstGeom prst="rect">
            <a:avLst/>
          </a:prstGeom>
        </p:spPr>
      </p:pic>
      <p:pic>
        <p:nvPicPr>
          <p:cNvPr id="9" name="Bild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585" y="1883008"/>
            <a:ext cx="1022401" cy="1440000"/>
          </a:xfrm>
          <a:prstGeom prst="rect">
            <a:avLst/>
          </a:prstGeom>
        </p:spPr>
      </p:pic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D9426-D303-614F-8D3B-28A9162F8D6C}" type="datetime1">
              <a:rPr lang="de-CH" smtClean="0"/>
              <a:t>10.01.25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CA49-E037-8249-8A6D-A7FC8A19B76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265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9725"/>
            <a:ext cx="2467356" cy="5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72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2488409"/>
            <a:ext cx="10515600" cy="368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  <a:endParaRPr lang="de-DE" dirty="0"/>
          </a:p>
        </p:txBody>
      </p:sp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CH"/>
              <a:t>Mastertitelformat bearbeiten</a:t>
            </a:r>
            <a:endParaRPr lang="de-DE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418D420-3027-E442-BCAC-50ABAF6F198C}" type="datetime1">
              <a:rPr lang="de-CH" smtClean="0"/>
              <a:t>10.01.25</a:t>
            </a:fld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4"/>
          </p:nvPr>
        </p:nvSpPr>
        <p:spPr>
          <a:xfrm>
            <a:off x="11353800" y="3246438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rgbClr val="009EE0"/>
                </a:solidFill>
              </a:defRPr>
            </a:lvl1pPr>
          </a:lstStyle>
          <a:p>
            <a:fld id="{EE20CA49-E037-8249-8A6D-A7FC8A19B76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3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185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59" r:id="rId6"/>
    <p:sldLayoutId id="2147483656" r:id="rId7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b="1" kern="1200" spc="-151">
          <a:solidFill>
            <a:srgbClr val="009EE0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CH" sz="6600" dirty="0"/>
              <a:t>Wahrscheinlichkeit</a:t>
            </a:r>
            <a:endParaRPr lang="de-DE" sz="480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76B3D-D8AC-FF4D-A457-75BF23B672A6}" type="datetime1">
              <a:rPr lang="de-CH" smtClean="0"/>
              <a:t>10.01.25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CA49-E037-8249-8A6D-A7FC8A19B761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el 1">
            <a:extLst>
              <a:ext uri="{FF2B5EF4-FFF2-40B4-BE49-F238E27FC236}">
                <a16:creationId xmlns:a16="http://schemas.microsoft.com/office/drawing/2014/main" id="{C75CD97D-04EB-944A-AD9A-1A0CF38A1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altLang="de-DE" dirty="0"/>
              <a:t>Der erste </a:t>
            </a:r>
            <a:r>
              <a:rPr lang="de-CH" altLang="de-DE" dirty="0" err="1"/>
              <a:t>Stochastiker</a:t>
            </a:r>
            <a:r>
              <a:rPr lang="de-CH" altLang="de-DE" dirty="0"/>
              <a:t> </a:t>
            </a:r>
          </a:p>
        </p:txBody>
      </p:sp>
      <p:pic>
        <p:nvPicPr>
          <p:cNvPr id="5" name="Bild 51">
            <a:extLst>
              <a:ext uri="{FF2B5EF4-FFF2-40B4-BE49-F238E27FC236}">
                <a16:creationId xmlns:a16="http://schemas.microsoft.com/office/drawing/2014/main" id="{7FFE3B9E-57DC-464C-9676-5A7187F843E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38200" y="2609054"/>
            <a:ext cx="25400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6B38911-A0B4-C74A-AD12-B8CFCE837D2F}"/>
              </a:ext>
            </a:extLst>
          </p:cNvPr>
          <p:cNvSpPr txBox="1"/>
          <p:nvPr/>
        </p:nvSpPr>
        <p:spPr>
          <a:xfrm>
            <a:off x="4025275" y="2609054"/>
            <a:ext cx="624314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 err="1"/>
              <a:t>Gerolamo</a:t>
            </a:r>
            <a:r>
              <a:rPr lang="de-DE" sz="2800" dirty="0"/>
              <a:t> </a:t>
            </a:r>
            <a:r>
              <a:rPr lang="de-DE" sz="2800" dirty="0" err="1"/>
              <a:t>Cardano</a:t>
            </a:r>
            <a:r>
              <a:rPr lang="de-DE" sz="2800" dirty="0"/>
              <a:t> </a:t>
            </a:r>
            <a:r>
              <a:rPr lang="de-CH" sz="2800" dirty="0"/>
              <a:t>1501-1576</a:t>
            </a:r>
            <a:br>
              <a:rPr lang="de-CH" sz="2800" dirty="0"/>
            </a:br>
            <a:endParaRPr lang="de-CH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800" i="1" dirty="0"/>
              <a:t>Liber de Ludo </a:t>
            </a:r>
            <a:r>
              <a:rPr lang="de-CH" sz="2800" i="1" dirty="0" err="1"/>
              <a:t>Aleae</a:t>
            </a:r>
            <a:r>
              <a:rPr lang="de-CH" sz="2800" dirty="0"/>
              <a:t>, Verfasst ca. 1530, Veröffentlicht 1663</a:t>
            </a:r>
            <a:br>
              <a:rPr lang="de-CH" sz="2800" dirty="0"/>
            </a:br>
            <a:endParaRPr lang="de-CH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0914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el 1">
            <a:extLst>
              <a:ext uri="{FF2B5EF4-FFF2-40B4-BE49-F238E27FC236}">
                <a16:creationId xmlns:a16="http://schemas.microsoft.com/office/drawing/2014/main" id="{C75CD97D-04EB-944A-AD9A-1A0CF38A1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altLang="de-DE" dirty="0"/>
              <a:t>Die Geburtsstunde der Wahrscheinlichkeitsrechnung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6B38911-A0B4-C74A-AD12-B8CFCE837D2F}"/>
              </a:ext>
            </a:extLst>
          </p:cNvPr>
          <p:cNvSpPr txBox="1"/>
          <p:nvPr/>
        </p:nvSpPr>
        <p:spPr>
          <a:xfrm>
            <a:off x="4025275" y="2609054"/>
            <a:ext cx="518403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800" dirty="0"/>
              <a:t>Blaise Pascal (1623-1662) und Pierre de Fermat (1607-1665) </a:t>
            </a:r>
            <a:br>
              <a:rPr lang="de-CH" sz="2800" dirty="0"/>
            </a:br>
            <a:endParaRPr lang="de-CH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800" dirty="0"/>
              <a:t>Briefwechsel zu einer Frage von Chevalier De </a:t>
            </a:r>
            <a:r>
              <a:rPr lang="de-CH" sz="2800" dirty="0" err="1"/>
              <a:t>Méré</a:t>
            </a:r>
            <a:r>
              <a:rPr lang="de-CH" sz="2800" dirty="0"/>
              <a:t> über zwei Würfelspiele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dirty="0"/>
          </a:p>
        </p:txBody>
      </p:sp>
      <p:pic>
        <p:nvPicPr>
          <p:cNvPr id="7" name="Inhaltsplatzhalter 6" descr="Ein Bild, das sitzend, Frau, tragen, Katze enthält.&#10;&#10;Automatisch generierte Beschreibung">
            <a:extLst>
              <a:ext uri="{FF2B5EF4-FFF2-40B4-BE49-F238E27FC236}">
                <a16:creationId xmlns:a16="http://schemas.microsoft.com/office/drawing/2014/main" id="{A43AF821-FA69-8745-A59A-7303FED378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4671" y="2488409"/>
            <a:ext cx="3523340" cy="3687763"/>
          </a:xfrm>
        </p:spPr>
      </p:pic>
      <p:pic>
        <p:nvPicPr>
          <p:cNvPr id="9" name="Grafik 8" descr="Ein Bild, das Person, Mann, suchend, tragen enthält.&#10;&#10;Automatisch generierte Beschreibung">
            <a:extLst>
              <a:ext uri="{FF2B5EF4-FFF2-40B4-BE49-F238E27FC236}">
                <a16:creationId xmlns:a16="http://schemas.microsoft.com/office/drawing/2014/main" id="{01CBE158-4D8E-5041-9698-8C5FDA7C5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6841" y="2525710"/>
            <a:ext cx="2083107" cy="368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86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el 1">
            <a:extLst>
              <a:ext uri="{FF2B5EF4-FFF2-40B4-BE49-F238E27FC236}">
                <a16:creationId xmlns:a16="http://schemas.microsoft.com/office/drawing/2014/main" id="{C75CD97D-04EB-944A-AD9A-1A0CF38A1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altLang="de-DE" dirty="0"/>
              <a:t>Nicht nur Spiele…!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6B38911-A0B4-C74A-AD12-B8CFCE837D2F}"/>
              </a:ext>
            </a:extLst>
          </p:cNvPr>
          <p:cNvSpPr txBox="1"/>
          <p:nvPr/>
        </p:nvSpPr>
        <p:spPr>
          <a:xfrm>
            <a:off x="4025275" y="2609054"/>
            <a:ext cx="624314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Christiaan Huygens </a:t>
            </a:r>
            <a:r>
              <a:rPr lang="de-CH" sz="2800" dirty="0"/>
              <a:t>1629-1695</a:t>
            </a:r>
            <a:br>
              <a:rPr lang="de-CH" sz="2800" dirty="0"/>
            </a:br>
            <a:endParaRPr lang="de-CH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800" dirty="0"/>
              <a:t>Gerechte Witwenrente mit Methoden der Wahrscheinlichkeitsrechnung ermittelt</a:t>
            </a:r>
            <a:br>
              <a:rPr lang="de-CH" sz="2800" dirty="0"/>
            </a:br>
            <a:endParaRPr lang="de-CH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dirty="0"/>
          </a:p>
        </p:txBody>
      </p:sp>
      <p:pic>
        <p:nvPicPr>
          <p:cNvPr id="8" name="Inhaltsplatzhalter 7" descr="Ein Bild, das draußen, Mann, Foto, Gras enthält.&#10;&#10;Automatisch generierte Beschreibung">
            <a:extLst>
              <a:ext uri="{FF2B5EF4-FFF2-40B4-BE49-F238E27FC236}">
                <a16:creationId xmlns:a16="http://schemas.microsoft.com/office/drawing/2014/main" id="{D6064ADD-5019-AB44-BDE4-DFE73051F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488409"/>
            <a:ext cx="3091874" cy="3687763"/>
          </a:xfrm>
        </p:spPr>
      </p:pic>
    </p:spTree>
    <p:extLst>
      <p:ext uri="{BB962C8B-B14F-4D97-AF65-F5344CB8AC3E}">
        <p14:creationId xmlns:p14="http://schemas.microsoft.com/office/powerpoint/2010/main" val="3298496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9C4A2F1C-04A3-4444-9480-59792F33B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Heute: Wahrscheinlichkeit ist überall!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A31C9FE-F0B5-974A-9067-423915E27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Versicherung (Wie hoch soll die Prämie sein?)</a:t>
            </a:r>
          </a:p>
          <a:p>
            <a:r>
              <a:rPr lang="de-DE" dirty="0"/>
              <a:t>Sozialwissenschaften (Statistische Analysen)</a:t>
            </a:r>
          </a:p>
          <a:p>
            <a:r>
              <a:rPr lang="de-DE" dirty="0"/>
              <a:t>Medizin (Sicherheit bei Diagnose-Tests)</a:t>
            </a:r>
          </a:p>
          <a:p>
            <a:r>
              <a:rPr lang="de-DE" dirty="0"/>
              <a:t>Physik (Quantenmechanik)</a:t>
            </a:r>
          </a:p>
          <a:p>
            <a:r>
              <a:rPr lang="de-DE" dirty="0"/>
              <a:t>Finanzen (Optionenbewertung)</a:t>
            </a:r>
          </a:p>
          <a:p>
            <a:r>
              <a:rPr lang="de-DE" dirty="0"/>
              <a:t>Marktforschung (Welches Produkt kommt besser an?)</a:t>
            </a:r>
          </a:p>
          <a:p>
            <a:r>
              <a:rPr lang="de-DE" dirty="0"/>
              <a:t>…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BCEBF6-1F8A-8A4A-80F2-19BD2EC7E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D420-3027-E442-BCAC-50ABAF6F198C}" type="datetime1">
              <a:rPr lang="de-CH" smtClean="0"/>
              <a:t>10.01.25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29326F-DFB9-7840-AE0E-BCC7C305E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FDFBDC-3E77-6D43-9E7F-847423407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CA49-E037-8249-8A6D-A7FC8A19B761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1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492337"/>
      </p:ext>
    </p:extLst>
  </p:cSld>
  <p:clrMapOvr>
    <a:masterClrMapping/>
  </p:clrMapOvr>
</p:sld>
</file>

<file path=ppt/theme/theme1.xml><?xml version="1.0" encoding="utf-8"?>
<a:theme xmlns:a="http://schemas.openxmlformats.org/drawingml/2006/main" name="KS Im Le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Kantonsschule Im Lee" id="{8EC03A99-C443-6B4C-894A-859460507551}" vid="{392BD379-333A-9440-977D-28A8670B38D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KS Im Lee</Template>
  <TotalTime>0</TotalTime>
  <Words>165</Words>
  <Application>Microsoft Macintosh PowerPoint</Application>
  <PresentationFormat>Breitbild</PresentationFormat>
  <Paragraphs>31</Paragraphs>
  <Slides>6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KS Im Lee</vt:lpstr>
      <vt:lpstr>Wahrscheinlichkeit</vt:lpstr>
      <vt:lpstr>Der erste Stochastiker </vt:lpstr>
      <vt:lpstr>Die Geburtsstunde der Wahrscheinlichkeitsrechnung</vt:lpstr>
      <vt:lpstr>Nicht nur Spiele…!</vt:lpstr>
      <vt:lpstr>Heute: Wahrscheinlichkeit ist überall!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Notentabelle</dc:title>
  <dc:creator>Michael Anderegg</dc:creator>
  <cp:lastModifiedBy>Michael Anderegg (KLW)</cp:lastModifiedBy>
  <cp:revision>12</cp:revision>
  <dcterms:created xsi:type="dcterms:W3CDTF">2019-10-29T07:52:59Z</dcterms:created>
  <dcterms:modified xsi:type="dcterms:W3CDTF">2025-01-10T07:52:45Z</dcterms:modified>
</cp:coreProperties>
</file>